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9975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948696"/>
            <a:ext cx="3664744" cy="2940010"/>
          </a:xfrm>
          <a:prstGeom prst="roundRect">
            <a:avLst>
              <a:gd name="adj" fmla="val 1157"/>
            </a:avLst>
          </a:prstGeom>
          <a:solidFill>
            <a:srgbClr val="5F5153"/>
          </a:solidFill>
          <a:ln/>
        </p:spPr>
      </p:sp>
      <p:sp>
        <p:nvSpPr>
          <p:cNvPr id="5" name="Shape 2"/>
          <p:cNvSpPr/>
          <p:nvPr/>
        </p:nvSpPr>
        <p:spPr>
          <a:xfrm>
            <a:off x="1020604" y="21755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2C2B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2362557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0604" y="3082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Dataset Size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3573185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3,900 purchases across 18 features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85348" y="1948696"/>
            <a:ext cx="3664863" cy="2940010"/>
          </a:xfrm>
          <a:prstGeom prst="roundRect">
            <a:avLst>
              <a:gd name="adj" fmla="val 1157"/>
            </a:avLst>
          </a:prstGeom>
          <a:solidFill>
            <a:srgbClr val="5F5153"/>
          </a:solidFill>
          <a:ln/>
        </p:spPr>
      </p:sp>
      <p:sp>
        <p:nvSpPr>
          <p:cNvPr id="10" name="Shape 6"/>
          <p:cNvSpPr/>
          <p:nvPr/>
        </p:nvSpPr>
        <p:spPr>
          <a:xfrm>
            <a:off x="4912162" y="21755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2C2B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9328" y="2362557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2162" y="3082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Key Goals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4912162" y="3573185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Spending patterns, customer segments, product preferences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93790" y="5115520"/>
            <a:ext cx="7556421" cy="2214205"/>
          </a:xfrm>
          <a:prstGeom prst="roundRect">
            <a:avLst>
              <a:gd name="adj" fmla="val 1537"/>
            </a:avLst>
          </a:prstGeom>
          <a:solidFill>
            <a:srgbClr val="5F5153"/>
          </a:solidFill>
          <a:ln/>
        </p:spPr>
      </p:sp>
      <p:sp>
        <p:nvSpPr>
          <p:cNvPr id="15" name="Shape 10"/>
          <p:cNvSpPr/>
          <p:nvPr/>
        </p:nvSpPr>
        <p:spPr>
          <a:xfrm>
            <a:off x="1020604" y="534233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2C2B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7770" y="5529382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0604" y="62495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Business Impact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020604" y="6740009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Strategic decisions on subscriptions and promotions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7981"/>
            <a:ext cx="72754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 Preparation Process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92072"/>
            <a:ext cx="8284131" cy="46942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9539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Python Workflow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535085"/>
            <a:ext cx="4205168" cy="293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Data loading with pandas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Initial exploration and summary statistics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Missing data imputation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Column standardization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Feature engineering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PostgreSQL integration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5313" y="555903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Key Data Insights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95313" y="1363861"/>
            <a:ext cx="7953375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3,900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3508772" y="210585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Total Purchases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95313" y="2448044"/>
            <a:ext cx="79533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Transactional records analyzed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5313" y="3026331"/>
            <a:ext cx="7953375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18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3508772" y="376832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 Features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95313" y="4110514"/>
            <a:ext cx="79533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Customer demographics and purchase details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5313" y="4688800"/>
            <a:ext cx="7953375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$59.76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3508772" y="543079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Average Spend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95313" y="5772983"/>
            <a:ext cx="79533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Mean purchase amount (USD)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5313" y="6351270"/>
            <a:ext cx="7953375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44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3508772" y="709326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Average Age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95313" y="7435453"/>
            <a:ext cx="79533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Median customer age in years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3520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Revenue by Gender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Male customers generated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2C2B3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2.1x more revenue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than female customers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591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Top 3 Products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48213"/>
            <a:ext cx="3664744" cy="1677591"/>
          </a:xfrm>
          <a:prstGeom prst="roundRect">
            <a:avLst>
              <a:gd name="adj" fmla="val 8721"/>
            </a:avLst>
          </a:prstGeom>
          <a:solidFill>
            <a:srgbClr val="403234"/>
          </a:solidFill>
          <a:ln/>
        </p:spPr>
      </p:sp>
      <p:sp>
        <p:nvSpPr>
          <p:cNvPr id="5" name="Shape 2"/>
          <p:cNvSpPr/>
          <p:nvPr/>
        </p:nvSpPr>
        <p:spPr>
          <a:xfrm>
            <a:off x="6280190" y="2817733"/>
            <a:ext cx="3664744" cy="121920"/>
          </a:xfrm>
          <a:prstGeom prst="roundRect">
            <a:avLst>
              <a:gd name="adj" fmla="val 27907"/>
            </a:avLst>
          </a:prstGeom>
          <a:solidFill>
            <a:srgbClr val="E2C2B3"/>
          </a:solidFill>
          <a:ln/>
        </p:spPr>
      </p:sp>
      <p:sp>
        <p:nvSpPr>
          <p:cNvPr id="6" name="Shape 3"/>
          <p:cNvSpPr/>
          <p:nvPr/>
        </p:nvSpPr>
        <p:spPr>
          <a:xfrm>
            <a:off x="7772340" y="250805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2C2B3"/>
          </a:solidFill>
          <a:ln/>
        </p:spPr>
      </p:sp>
      <p:sp>
        <p:nvSpPr>
          <p:cNvPr id="7" name="Text 4"/>
          <p:cNvSpPr/>
          <p:nvPr/>
        </p:nvSpPr>
        <p:spPr>
          <a:xfrm>
            <a:off x="7976414" y="267819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537484" y="34151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Pants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37484" y="3905607"/>
            <a:ext cx="31501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171 purchases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171748" y="2848213"/>
            <a:ext cx="3664863" cy="1677591"/>
          </a:xfrm>
          <a:prstGeom prst="roundRect">
            <a:avLst>
              <a:gd name="adj" fmla="val 8721"/>
            </a:avLst>
          </a:prstGeom>
          <a:solidFill>
            <a:srgbClr val="403234"/>
          </a:solidFill>
          <a:ln/>
        </p:spPr>
      </p:sp>
      <p:sp>
        <p:nvSpPr>
          <p:cNvPr id="11" name="Shape 8"/>
          <p:cNvSpPr/>
          <p:nvPr/>
        </p:nvSpPr>
        <p:spPr>
          <a:xfrm>
            <a:off x="10171748" y="2817733"/>
            <a:ext cx="3664863" cy="121920"/>
          </a:xfrm>
          <a:prstGeom prst="roundRect">
            <a:avLst>
              <a:gd name="adj" fmla="val 27907"/>
            </a:avLst>
          </a:prstGeom>
          <a:solidFill>
            <a:srgbClr val="E2C2B3"/>
          </a:solidFill>
          <a:ln/>
        </p:spPr>
      </p:sp>
      <p:sp>
        <p:nvSpPr>
          <p:cNvPr id="12" name="Shape 9"/>
          <p:cNvSpPr/>
          <p:nvPr/>
        </p:nvSpPr>
        <p:spPr>
          <a:xfrm>
            <a:off x="11663898" y="250805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2C2B3"/>
          </a:solidFill>
          <a:ln/>
        </p:spPr>
      </p:sp>
      <p:sp>
        <p:nvSpPr>
          <p:cNvPr id="13" name="Text 10"/>
          <p:cNvSpPr/>
          <p:nvPr/>
        </p:nvSpPr>
        <p:spPr>
          <a:xfrm>
            <a:off x="11867971" y="267819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0429042" y="34151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Blouse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429042" y="3905607"/>
            <a:ext cx="3150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171 purchases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6280190" y="5092779"/>
            <a:ext cx="7556421" cy="1677591"/>
          </a:xfrm>
          <a:prstGeom prst="roundRect">
            <a:avLst>
              <a:gd name="adj" fmla="val 8721"/>
            </a:avLst>
          </a:prstGeom>
          <a:solidFill>
            <a:srgbClr val="403234"/>
          </a:solidFill>
          <a:ln/>
        </p:spPr>
      </p:sp>
      <p:sp>
        <p:nvSpPr>
          <p:cNvPr id="17" name="Shape 14"/>
          <p:cNvSpPr/>
          <p:nvPr/>
        </p:nvSpPr>
        <p:spPr>
          <a:xfrm>
            <a:off x="6280190" y="5062299"/>
            <a:ext cx="7556421" cy="121920"/>
          </a:xfrm>
          <a:prstGeom prst="roundRect">
            <a:avLst>
              <a:gd name="adj" fmla="val 27907"/>
            </a:avLst>
          </a:prstGeom>
          <a:solidFill>
            <a:srgbClr val="E2C2B3"/>
          </a:solidFill>
          <a:ln/>
        </p:spPr>
      </p:sp>
      <p:sp>
        <p:nvSpPr>
          <p:cNvPr id="18" name="Shape 15"/>
          <p:cNvSpPr/>
          <p:nvPr/>
        </p:nvSpPr>
        <p:spPr>
          <a:xfrm>
            <a:off x="9718179" y="475261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2C2B3"/>
          </a:solidFill>
          <a:ln/>
        </p:spPr>
      </p:sp>
      <p:sp>
        <p:nvSpPr>
          <p:cNvPr id="19" name="Text 16"/>
          <p:cNvSpPr/>
          <p:nvPr/>
        </p:nvSpPr>
        <p:spPr>
          <a:xfrm>
            <a:off x="9922252" y="492275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537484" y="56597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Jewelry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537484" y="6150173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171 purchases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6492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Shipping Type Comparison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494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83060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Average purchase: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$58.46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39757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Most common option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42494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342721" y="483060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Average purchase: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$60.48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539757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Higher-value orders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2846" y="523875"/>
            <a:ext cx="4160520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Subscription Impact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3548062" y="2283023"/>
            <a:ext cx="1961674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3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1053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2798" y="1286232"/>
            <a:ext cx="2392323" cy="23923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32108" y="3830360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Subscribers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812846" y="4146709"/>
            <a:ext cx="543222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$62,645 total revenue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120426" y="2283023"/>
            <a:ext cx="1961674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3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2847</a:t>
            </a:r>
            <a:endParaRPr lang="en-US" sz="3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161" y="1286232"/>
            <a:ext cx="2392323" cy="23923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04471" y="3830360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Non-Subscribers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385209" y="4146709"/>
            <a:ext cx="543222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$170,436 total revenue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548062" y="5624751"/>
            <a:ext cx="1961674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3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$59.49</a:t>
            </a:r>
            <a:endParaRPr lang="en-US" sz="3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798" y="4627959"/>
            <a:ext cx="2392323" cy="23923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32108" y="7172087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Subscriber Avg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812846" y="7488436"/>
            <a:ext cx="543222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Per purchase amount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9120426" y="5624751"/>
            <a:ext cx="1961674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3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$59.87</a:t>
            </a:r>
            <a:endParaRPr lang="en-US" sz="3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5161" y="4627959"/>
            <a:ext cx="2392323" cy="239232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90779" y="7172087"/>
            <a:ext cx="2021086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Non-Subscriber Avg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385209" y="7488436"/>
            <a:ext cx="543222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Per purchase amount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9642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65414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5" name="Text 2"/>
          <p:cNvSpPr/>
          <p:nvPr/>
        </p:nvSpPr>
        <p:spPr>
          <a:xfrm>
            <a:off x="7017306" y="3732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Discount Strategy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4222433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Identified customers using discounts while spending above average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54018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8" name="Text 5"/>
          <p:cNvSpPr/>
          <p:nvPr/>
        </p:nvSpPr>
        <p:spPr>
          <a:xfrm>
            <a:off x="7017306" y="5479733"/>
            <a:ext cx="31009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Revenue Opportunity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17306" y="5970151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High-spending customers responsive to promotional offers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81212"/>
            <a:ext cx="56953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43620"/>
            <a:ext cx="1767840" cy="1767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2949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Gloves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785366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3.86 average rating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3243620"/>
            <a:ext cx="1767840" cy="1767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52949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Sandals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5785366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3.84 average rating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3243620"/>
            <a:ext cx="1767840" cy="1767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52949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Boots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5785366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3.82 average rating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3243620"/>
            <a:ext cx="1767840" cy="17678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52949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Hat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5785366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3.80 average rating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2026-05-02T12:58:49Z</dcterms:created>
  <dcterms:modified xsi:type="dcterms:W3CDTF">2026-05-02T12:58:49Z</dcterms:modified>
</cp:coreProperties>
</file>